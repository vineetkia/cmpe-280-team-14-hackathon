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2d3c574c8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d2d3c574c8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Sriram</a:t>
            </a:r>
            <a:endParaRPr/>
          </a:p>
        </p:txBody>
      </p:sp>
      <p:sp>
        <p:nvSpPr>
          <p:cNvPr id="55" name="Google Shape;55;g3d2d3c574c8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2d3c574c8_2_3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d2d3c574c8_2_3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Sriram</a:t>
            </a:r>
            <a:endParaRPr/>
          </a:p>
        </p:txBody>
      </p:sp>
      <p:sp>
        <p:nvSpPr>
          <p:cNvPr id="92" name="Google Shape;92;g3d2d3c574c8_2_3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2d3c574c8_2_6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3d2d3c574c8_2_6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Ritika</a:t>
            </a:r>
            <a:endParaRPr/>
          </a:p>
        </p:txBody>
      </p:sp>
      <p:sp>
        <p:nvSpPr>
          <p:cNvPr id="119" name="Google Shape;119;g3d2d3c574c8_2_6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2d3c574c8_2_11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d2d3c574c8_2_11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Disha</a:t>
            </a:r>
            <a:endParaRPr/>
          </a:p>
        </p:txBody>
      </p:sp>
      <p:sp>
        <p:nvSpPr>
          <p:cNvPr id="167" name="Google Shape;167;g3d2d3c574c8_2_11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2d3c574c8_2_16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d2d3c574c8_2_16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Harsh</a:t>
            </a:r>
            <a:endParaRPr/>
          </a:p>
        </p:txBody>
      </p:sp>
      <p:sp>
        <p:nvSpPr>
          <p:cNvPr id="219" name="Google Shape;219;g3d2d3c574c8_2_16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d2d3c574c8_2_21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3d2d3c574c8_2_21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d2d3c574c8_2_21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d2d3c574c8_2_42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g3d2d3c574c8_2_42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d2d3c574c8_2_42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d2d3c574c8_2_45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g3d2d3c574c8_2_45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d2d3c574c8_2_45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9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131E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4160520" y="0"/>
            <a:ext cx="73152" cy="51435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-548640" y="-457200"/>
            <a:ext cx="2560320" cy="2560320"/>
          </a:xfrm>
          <a:prstGeom prst="ellipse">
            <a:avLst/>
          </a:prstGeom>
          <a:solidFill>
            <a:srgbClr val="4F8EF7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5"/>
          <p:cNvSpPr/>
          <p:nvPr/>
        </p:nvSpPr>
        <p:spPr>
          <a:xfrm>
            <a:off x="274320" y="3474720"/>
            <a:ext cx="1645920" cy="1645920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5"/>
          <p:cNvSpPr/>
          <p:nvPr/>
        </p:nvSpPr>
        <p:spPr>
          <a:xfrm>
            <a:off x="502920" y="822960"/>
            <a:ext cx="914400" cy="914400"/>
          </a:xfrm>
          <a:prstGeom prst="roundRect">
            <a:avLst>
              <a:gd fmla="val 20000" name="adj"/>
            </a:avLst>
          </a:prstGeom>
          <a:solidFill>
            <a:srgbClr val="4F8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502920" y="82296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502920" y="1965960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StudyPilot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502920" y="265176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B3FF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7EB3FF"/>
                </a:solidFill>
                <a:latin typeface="Calibri"/>
                <a:ea typeface="Calibri"/>
                <a:cs typeface="Calibri"/>
                <a:sym typeface="Calibri"/>
              </a:rPr>
              <a:t>AI-Powered Study Dashboard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502920" y="3090672"/>
            <a:ext cx="2926080" cy="27432"/>
          </a:xfrm>
          <a:prstGeom prst="rect">
            <a:avLst/>
          </a:prstGeom>
          <a:solidFill>
            <a:srgbClr val="4F8EF7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/>
          <p:cNvSpPr/>
          <p:nvPr/>
        </p:nvSpPr>
        <p:spPr>
          <a:xfrm>
            <a:off x="502920" y="320040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9BC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A9BC0"/>
                </a:solidFill>
                <a:latin typeface="Calibri"/>
                <a:ea typeface="Calibri"/>
                <a:cs typeface="Calibri"/>
                <a:sym typeface="Calibri"/>
              </a:rPr>
              <a:t>CMPE 280 — Web UI Design &amp; Development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9BC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A9BC0"/>
                </a:solidFill>
                <a:latin typeface="Calibri"/>
                <a:ea typeface="Calibri"/>
                <a:cs typeface="Calibri"/>
                <a:sym typeface="Calibri"/>
              </a:rPr>
              <a:t>Spring 2026 | San Jose State University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9BC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A9BC0"/>
                </a:solidFill>
                <a:latin typeface="Calibri"/>
                <a:ea typeface="Calibri"/>
                <a:cs typeface="Calibri"/>
                <a:sym typeface="Calibri"/>
              </a:rPr>
              <a:t>Instructor: Dr. Xiuduan Fang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502920" y="4114800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8EF7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4F8EF7"/>
                </a:solidFill>
                <a:latin typeface="Calibri"/>
                <a:ea typeface="Calibri"/>
                <a:cs typeface="Calibri"/>
                <a:sym typeface="Calibri"/>
              </a:rPr>
              <a:t>TEAM 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4572000" y="45720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Team Members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4572000" y="1005840"/>
            <a:ext cx="4114800" cy="594360"/>
          </a:xfrm>
          <a:prstGeom prst="rect">
            <a:avLst/>
          </a:prstGeom>
          <a:solidFill>
            <a:srgbClr val="1C2B4B"/>
          </a:solidFill>
          <a:ln cap="flat" cmpd="sng" w="9525">
            <a:solidFill>
              <a:srgbClr val="2A3F6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4754880" y="1207008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5029200" y="107899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Vineet Kumar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5029200" y="1316736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C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A9BC0"/>
                </a:solidFill>
                <a:latin typeface="Calibri"/>
                <a:ea typeface="Calibri"/>
                <a:cs typeface="Calibri"/>
                <a:sym typeface="Calibri"/>
              </a:rPr>
              <a:t>AI, Backend, Voice, Chat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4572000" y="1719072"/>
            <a:ext cx="4114800" cy="594360"/>
          </a:xfrm>
          <a:prstGeom prst="rect">
            <a:avLst/>
          </a:prstGeom>
          <a:solidFill>
            <a:srgbClr val="1C2B4B"/>
          </a:solidFill>
          <a:ln cap="flat" cmpd="sng" w="9525">
            <a:solidFill>
              <a:srgbClr val="2A3F6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4754880" y="1920240"/>
            <a:ext cx="182880" cy="18288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5029200" y="1792224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Vritika Malhotra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5029200" y="2029968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C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A9BC0"/>
                </a:solidFill>
                <a:latin typeface="Calibri"/>
                <a:ea typeface="Calibri"/>
                <a:cs typeface="Calibri"/>
                <a:sym typeface="Calibri"/>
              </a:rPr>
              <a:t>Dashboard, UI Components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4572000" y="2432304"/>
            <a:ext cx="4114800" cy="594360"/>
          </a:xfrm>
          <a:prstGeom prst="rect">
            <a:avLst/>
          </a:prstGeom>
          <a:solidFill>
            <a:srgbClr val="1C2B4B"/>
          </a:solidFill>
          <a:ln cap="flat" cmpd="sng" w="9525">
            <a:solidFill>
              <a:srgbClr val="2A3F6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4754880" y="2633472"/>
            <a:ext cx="182880" cy="1828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/>
          <p:nvPr/>
        </p:nvSpPr>
        <p:spPr>
          <a:xfrm>
            <a:off x="5029200" y="2505456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Disha Jadav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5029200" y="2743200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C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A9BC0"/>
                </a:solidFill>
                <a:latin typeface="Calibri"/>
                <a:ea typeface="Calibri"/>
                <a:cs typeface="Calibri"/>
                <a:sym typeface="Calibri"/>
              </a:rPr>
              <a:t>Assignments, Calendar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4572000" y="3145536"/>
            <a:ext cx="4114800" cy="594360"/>
          </a:xfrm>
          <a:prstGeom prst="rect">
            <a:avLst/>
          </a:prstGeom>
          <a:solidFill>
            <a:srgbClr val="1C2B4B"/>
          </a:solidFill>
          <a:ln cap="flat" cmpd="sng" w="9525">
            <a:solidFill>
              <a:srgbClr val="2A3F6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4754880" y="3346704"/>
            <a:ext cx="182880" cy="1828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5029200" y="3218688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Kumar Harsh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5029200" y="3456432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C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A9BC0"/>
                </a:solidFill>
                <a:latin typeface="Calibri"/>
                <a:ea typeface="Calibri"/>
                <a:cs typeface="Calibri"/>
                <a:sym typeface="Calibri"/>
              </a:rPr>
              <a:t>Todos, Tests, Animations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4572000" y="3858768"/>
            <a:ext cx="4114800" cy="594360"/>
          </a:xfrm>
          <a:prstGeom prst="rect">
            <a:avLst/>
          </a:prstGeom>
          <a:solidFill>
            <a:srgbClr val="1C2B4B"/>
          </a:solidFill>
          <a:ln cap="flat" cmpd="sng" w="9525">
            <a:solidFill>
              <a:srgbClr val="2A3F6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"/>
          <p:cNvSpPr/>
          <p:nvPr/>
        </p:nvSpPr>
        <p:spPr>
          <a:xfrm>
            <a:off x="4754880" y="4059936"/>
            <a:ext cx="182880" cy="1828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/>
          <p:cNvSpPr/>
          <p:nvPr/>
        </p:nvSpPr>
        <p:spPr>
          <a:xfrm>
            <a:off x="5029200" y="393192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Sriram Lakumarapu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5029200" y="4169664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C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A9BC0"/>
                </a:solidFill>
                <a:latin typeface="Calibri"/>
                <a:ea typeface="Calibri"/>
                <a:cs typeface="Calibri"/>
                <a:sym typeface="Calibri"/>
              </a:rPr>
              <a:t>PostgreSQL, API, Docker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9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C0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8A9BC0"/>
                </a:solidFill>
                <a:latin typeface="Calibri"/>
                <a:ea typeface="Calibri"/>
                <a:cs typeface="Calibri"/>
                <a:sym typeface="Calibri"/>
              </a:rPr>
              <a:t>Why does StudyPilot need to exist?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457200" y="1097280"/>
            <a:ext cx="8229600" cy="1051560"/>
          </a:xfrm>
          <a:prstGeom prst="rect">
            <a:avLst/>
          </a:prstGeom>
          <a:solidFill>
            <a:srgbClr val="1C2B4B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457200" y="1097280"/>
            <a:ext cx="64008" cy="10515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640080" y="1143000"/>
            <a:ext cx="78638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8"/>
              </a:buClr>
              <a:buSzPts val="1300"/>
              <a:buFont typeface="Calibri"/>
              <a:buNone/>
            </a:pPr>
            <a:r>
              <a:rPr b="0" i="1" lang="en" sz="1300" u="none" cap="none" strike="noStrike">
                <a:solidFill>
                  <a:srgbClr val="E8EEF8"/>
                </a:solidFill>
                <a:latin typeface="Calibri"/>
                <a:ea typeface="Calibri"/>
                <a:cs typeface="Calibri"/>
                <a:sym typeface="Calibri"/>
              </a:rPr>
              <a:t>"College students juggle Canvas, Google Calendar, random note apps, and scattered tools — with no single place to see everything, plan smarter, and get help instantly."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457200" y="2331720"/>
            <a:ext cx="4114800" cy="1051560"/>
          </a:xfrm>
          <a:prstGeom prst="rect">
            <a:avLst/>
          </a:prstGeom>
          <a:solidFill>
            <a:srgbClr val="1C2B4B"/>
          </a:solidFill>
          <a:ln cap="flat" cmpd="sng" w="9525">
            <a:solidFill>
              <a:srgbClr val="2A3F6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594360" y="24963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📅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1143000" y="244144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Fragmented Tools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1143000" y="2715768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A9BC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A9BC0"/>
                </a:solidFill>
                <a:latin typeface="Calibri"/>
                <a:ea typeface="Calibri"/>
                <a:cs typeface="Calibri"/>
                <a:sym typeface="Calibri"/>
              </a:rPr>
              <a:t>Canvas for assignments, Google Cal for events, note apps for todos — never in sync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4800600" y="2331720"/>
            <a:ext cx="4114800" cy="1051560"/>
          </a:xfrm>
          <a:prstGeom prst="rect">
            <a:avLst/>
          </a:prstGeom>
          <a:solidFill>
            <a:srgbClr val="1C2B4B"/>
          </a:solidFill>
          <a:ln cap="flat" cmpd="sng" w="9525">
            <a:solidFill>
              <a:srgbClr val="2A3F6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/>
          <p:nvPr/>
        </p:nvSpPr>
        <p:spPr>
          <a:xfrm>
            <a:off x="4937760" y="24963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5486400" y="244144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Mental Overload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5486400" y="2715768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A9BC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A9BC0"/>
                </a:solidFill>
                <a:latin typeface="Calibri"/>
                <a:ea typeface="Calibri"/>
                <a:cs typeface="Calibri"/>
                <a:sym typeface="Calibri"/>
              </a:rPr>
              <a:t>Deadlines tracked in their heads, leading to missed work and poor time management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457200" y="3538728"/>
            <a:ext cx="4114800" cy="1051560"/>
          </a:xfrm>
          <a:prstGeom prst="rect">
            <a:avLst/>
          </a:prstGeom>
          <a:solidFill>
            <a:srgbClr val="1C2B4B"/>
          </a:solidFill>
          <a:ln cap="flat" cmpd="sng" w="9525">
            <a:solidFill>
              <a:srgbClr val="2A3F6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594360" y="37033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🔇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1143000" y="3648456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Accessibility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1143000" y="3922776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A9BC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A9BC0"/>
                </a:solidFill>
                <a:latin typeface="Calibri"/>
                <a:ea typeface="Calibri"/>
                <a:cs typeface="Calibri"/>
                <a:sym typeface="Calibri"/>
              </a:rPr>
              <a:t>Most tools require keyboard &amp; mouse — unusable for students with motor disabilities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4800600" y="3538728"/>
            <a:ext cx="4114800" cy="1051560"/>
          </a:xfrm>
          <a:prstGeom prst="rect">
            <a:avLst/>
          </a:prstGeom>
          <a:solidFill>
            <a:srgbClr val="1C2B4B"/>
          </a:solidFill>
          <a:ln cap="flat" cmpd="sng" w="9525">
            <a:solidFill>
              <a:srgbClr val="2A3F6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4937760" y="37033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5486400" y="3648456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Intelligent Help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5486400" y="3922776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A9BC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A9BC0"/>
                </a:solidFill>
                <a:latin typeface="Calibri"/>
                <a:ea typeface="Calibri"/>
                <a:cs typeface="Calibri"/>
                <a:sym typeface="Calibri"/>
              </a:rPr>
              <a:t>Static apps can't analyze your workload and suggest what to study next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9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Our Solution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457200" y="822960"/>
            <a:ext cx="8229600" cy="868680"/>
          </a:xfrm>
          <a:prstGeom prst="rect">
            <a:avLst/>
          </a:prstGeom>
          <a:solidFill>
            <a:srgbClr val="1C2B4B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7"/>
          <p:cNvSpPr/>
          <p:nvPr/>
        </p:nvSpPr>
        <p:spPr>
          <a:xfrm>
            <a:off x="457200" y="822960"/>
            <a:ext cx="64008" cy="8686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640080" y="868680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8"/>
              </a:buClr>
              <a:buSzPts val="1350"/>
              <a:buFont typeface="Calibri"/>
              <a:buNone/>
            </a:pPr>
            <a:r>
              <a:rPr b="0" i="0" lang="en" sz="1350" u="none" cap="none" strike="noStrike">
                <a:solidFill>
                  <a:srgbClr val="E8EEF8"/>
                </a:solidFill>
                <a:latin typeface="Calibri"/>
                <a:ea typeface="Calibri"/>
                <a:cs typeface="Calibri"/>
                <a:sym typeface="Calibri"/>
              </a:rPr>
              <a:t>StudyPilot is a unified AI-powered study companion that replaces the scattered mess of student productivity tools with one intelligent dashboard.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640080" y="1920240"/>
            <a:ext cx="1645920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640080" y="192024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2286000" y="2194560"/>
            <a:ext cx="411480" cy="54864"/>
          </a:xfrm>
          <a:prstGeom prst="rect">
            <a:avLst/>
          </a:prstGeom>
          <a:solidFill>
            <a:srgbClr val="8A9B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7"/>
          <p:cNvSpPr/>
          <p:nvPr/>
        </p:nvSpPr>
        <p:spPr>
          <a:xfrm>
            <a:off x="2606040" y="2103120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BC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A9BC0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2697480" y="1920240"/>
            <a:ext cx="1645920" cy="640080"/>
          </a:xfrm>
          <a:prstGeom prst="rect">
            <a:avLst/>
          </a:prstGeom>
          <a:solidFill>
            <a:srgbClr val="4F8EF7"/>
          </a:solidFill>
          <a:ln>
            <a:noFill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2697480" y="192024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4343400" y="2194560"/>
            <a:ext cx="411480" cy="54864"/>
          </a:xfrm>
          <a:prstGeom prst="rect">
            <a:avLst/>
          </a:prstGeom>
          <a:solidFill>
            <a:srgbClr val="8A9B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4663440" y="2103120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BC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A9BC0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4754880" y="1920240"/>
            <a:ext cx="1645920" cy="64008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4754880" y="192024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Engine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6400800" y="2194560"/>
            <a:ext cx="411480" cy="54864"/>
          </a:xfrm>
          <a:prstGeom prst="rect">
            <a:avLst/>
          </a:prstGeom>
          <a:solidFill>
            <a:srgbClr val="8A9B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6720840" y="2103120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BC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A9BC0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6812280" y="1920240"/>
            <a:ext cx="1645920" cy="64008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6812280" y="192024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457200" y="2834640"/>
            <a:ext cx="2651760" cy="868680"/>
          </a:xfrm>
          <a:prstGeom prst="rect">
            <a:avLst/>
          </a:prstGeom>
          <a:solidFill>
            <a:srgbClr val="1C2B4B"/>
          </a:solidFill>
          <a:ln cap="flat" cmpd="sng" w="9525">
            <a:solidFill>
              <a:srgbClr val="2A3F6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48640" y="29718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1005840" y="29260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Todo Manager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1005840" y="320040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C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8A9BC0"/>
                </a:solidFill>
                <a:latin typeface="Calibri"/>
                <a:ea typeface="Calibri"/>
                <a:cs typeface="Calibri"/>
                <a:sym typeface="Calibri"/>
              </a:rPr>
              <a:t>Full CRUD + AI task suggestions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3337560" y="2834640"/>
            <a:ext cx="2651760" cy="868680"/>
          </a:xfrm>
          <a:prstGeom prst="rect">
            <a:avLst/>
          </a:prstGeom>
          <a:solidFill>
            <a:srgbClr val="1C2B4B"/>
          </a:solidFill>
          <a:ln cap="flat" cmpd="sng" w="9525">
            <a:solidFill>
              <a:srgbClr val="2A3F6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3429000" y="29718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📚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3886200" y="29260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Assignment Tracker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3886200" y="320040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C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8A9BC0"/>
                </a:solidFill>
                <a:latin typeface="Calibri"/>
                <a:ea typeface="Calibri"/>
                <a:cs typeface="Calibri"/>
                <a:sym typeface="Calibri"/>
              </a:rPr>
              <a:t>Status tracking + AI tutor per assignment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6217920" y="2834640"/>
            <a:ext cx="2651760" cy="868680"/>
          </a:xfrm>
          <a:prstGeom prst="rect">
            <a:avLst/>
          </a:prstGeom>
          <a:solidFill>
            <a:srgbClr val="1C2B4B"/>
          </a:solidFill>
          <a:ln cap="flat" cmpd="sng" w="9525">
            <a:solidFill>
              <a:srgbClr val="2A3F6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6309360" y="29718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📅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6766560" y="29260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Calendar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6766560" y="320040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C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8A9BC0"/>
                </a:solidFill>
                <a:latin typeface="Calibri"/>
                <a:ea typeface="Calibri"/>
                <a:cs typeface="Calibri"/>
                <a:sym typeface="Calibri"/>
              </a:rPr>
              <a:t>Month grid + agenda view + events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457200" y="3886200"/>
            <a:ext cx="2651760" cy="868680"/>
          </a:xfrm>
          <a:prstGeom prst="rect">
            <a:avLst/>
          </a:prstGeom>
          <a:solidFill>
            <a:srgbClr val="1C2B4B"/>
          </a:solidFill>
          <a:ln cap="flat" cmpd="sng" w="9525">
            <a:solidFill>
              <a:srgbClr val="2A3F6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548640" y="40233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1005840" y="39776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Chat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1005840" y="425196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C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8A9BC0"/>
                </a:solidFill>
                <a:latin typeface="Calibri"/>
                <a:ea typeface="Calibri"/>
                <a:cs typeface="Calibri"/>
                <a:sym typeface="Calibri"/>
              </a:rPr>
              <a:t>Streaming GPT-5.2 with history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3337560" y="3886200"/>
            <a:ext cx="2651760" cy="868680"/>
          </a:xfrm>
          <a:prstGeom prst="rect">
            <a:avLst/>
          </a:prstGeom>
          <a:solidFill>
            <a:srgbClr val="1C2B4B"/>
          </a:solidFill>
          <a:ln cap="flat" cmpd="sng" w="9525">
            <a:solidFill>
              <a:srgbClr val="2A3F6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3429000" y="40233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3886200" y="39776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Voice Assistant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3886200" y="425196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C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8A9BC0"/>
                </a:solidFill>
                <a:latin typeface="Calibri"/>
                <a:ea typeface="Calibri"/>
                <a:cs typeface="Calibri"/>
                <a:sym typeface="Calibri"/>
              </a:rPr>
              <a:t>Hands-free full app control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6217920" y="3886200"/>
            <a:ext cx="2651760" cy="868680"/>
          </a:xfrm>
          <a:prstGeom prst="rect">
            <a:avLst/>
          </a:prstGeom>
          <a:solidFill>
            <a:srgbClr val="1C2B4B"/>
          </a:solidFill>
          <a:ln cap="flat" cmpd="sng" w="9525">
            <a:solidFill>
              <a:srgbClr val="2A3F6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6309360" y="40233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6766560" y="39776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6766560" y="425196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C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8A9BC0"/>
                </a:solidFill>
                <a:latin typeface="Calibri"/>
                <a:ea typeface="Calibri"/>
                <a:cs typeface="Calibri"/>
                <a:sym typeface="Calibri"/>
              </a:rPr>
              <a:t>Unified overview + study plan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9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Features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C0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8A9BC0"/>
                </a:solidFill>
                <a:latin typeface="Calibri"/>
                <a:ea typeface="Calibri"/>
                <a:cs typeface="Calibri"/>
                <a:sym typeface="Calibri"/>
              </a:rPr>
              <a:t>What makes StudyPilot stand out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365760" y="1051560"/>
            <a:ext cx="4206240" cy="1737360"/>
          </a:xfrm>
          <a:prstGeom prst="rect">
            <a:avLst/>
          </a:prstGeom>
          <a:solidFill>
            <a:srgbClr val="1C2B4B"/>
          </a:solidFill>
          <a:ln cap="flat" cmpd="sng" w="9525">
            <a:solidFill>
              <a:srgbClr val="2A3F6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530352" y="1216152"/>
            <a:ext cx="502920" cy="50292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530352" y="121615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1143000" y="1216152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AI-Powered Features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530352" y="1801368"/>
            <a:ext cx="3840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9BC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8A9BC0"/>
                </a:solidFill>
                <a:latin typeface="Calibri"/>
                <a:ea typeface="Calibri"/>
                <a:cs typeface="Calibri"/>
                <a:sym typeface="Calibri"/>
              </a:rPr>
              <a:t>Chat, Study Plan Generator, Assignment AI Tutor, and Todo Suggestions — all backed by GPT-5.2 with real-time SSE streaming so responses appear word-by-word.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530352" y="2496312"/>
            <a:ext cx="1188720" cy="219456"/>
          </a:xfrm>
          <a:prstGeom prst="roundRect">
            <a:avLst>
              <a:gd fmla="val 41667" name="adj"/>
            </a:avLst>
          </a:prstGeom>
          <a:solidFill>
            <a:srgbClr val="4F8EF7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530352" y="2496312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8EF7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4F8EF7"/>
                </a:solidFill>
                <a:latin typeface="Calibri"/>
                <a:ea typeface="Calibri"/>
                <a:cs typeface="Calibri"/>
                <a:sym typeface="Calibri"/>
              </a:rPr>
              <a:t>GPT-5.2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1810512" y="2496312"/>
            <a:ext cx="1188720" cy="219456"/>
          </a:xfrm>
          <a:prstGeom prst="roundRect">
            <a:avLst>
              <a:gd fmla="val 41667" name="adj"/>
            </a:avLst>
          </a:prstGeom>
          <a:solidFill>
            <a:srgbClr val="4F8EF7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1810512" y="2496312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8EF7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4F8EF7"/>
                </a:solidFill>
                <a:latin typeface="Calibri"/>
                <a:ea typeface="Calibri"/>
                <a:cs typeface="Calibri"/>
                <a:sym typeface="Calibri"/>
              </a:rPr>
              <a:t>Streaming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3090672" y="2496312"/>
            <a:ext cx="1188720" cy="219456"/>
          </a:xfrm>
          <a:prstGeom prst="roundRect">
            <a:avLst>
              <a:gd fmla="val 41667" name="adj"/>
            </a:avLst>
          </a:prstGeom>
          <a:solidFill>
            <a:srgbClr val="4F8EF7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3090672" y="2496312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8EF7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4F8EF7"/>
                </a:solidFill>
                <a:latin typeface="Calibri"/>
                <a:ea typeface="Calibri"/>
                <a:cs typeface="Calibri"/>
                <a:sym typeface="Calibri"/>
              </a:rPr>
              <a:t>Azure OpenAI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4800600" y="1051560"/>
            <a:ext cx="4206240" cy="1737360"/>
          </a:xfrm>
          <a:prstGeom prst="rect">
            <a:avLst/>
          </a:prstGeom>
          <a:solidFill>
            <a:srgbClr val="1C2B4B"/>
          </a:solidFill>
          <a:ln cap="flat" cmpd="sng" w="9525">
            <a:solidFill>
              <a:srgbClr val="2A3F6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4965192" y="1216152"/>
            <a:ext cx="502920" cy="502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4965192" y="121615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5577840" y="1216152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Voice-First Interface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4965192" y="1801368"/>
            <a:ext cx="3840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9BC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8A9BC0"/>
                </a:solidFill>
                <a:latin typeface="Calibri"/>
                <a:ea typeface="Calibri"/>
                <a:cs typeface="Calibri"/>
                <a:sym typeface="Calibri"/>
              </a:rPr>
              <a:t>Full hands-free control via "Hey StudyPilot" wake word. Create todos, navigate pages, and ask AI questions — all by voice. Built with Azure Neural STT/TTS.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4965192" y="2496312"/>
            <a:ext cx="1188720" cy="219456"/>
          </a:xfrm>
          <a:prstGeom prst="roundRect">
            <a:avLst>
              <a:gd fmla="val 41667" name="adj"/>
            </a:avLst>
          </a:prstGeom>
          <a:solidFill>
            <a:srgbClr val="0EA5E9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4965192" y="2496312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Azure Speech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6245352" y="2496312"/>
            <a:ext cx="1188720" cy="219456"/>
          </a:xfrm>
          <a:prstGeom prst="roundRect">
            <a:avLst>
              <a:gd fmla="val 41667" name="adj"/>
            </a:avLst>
          </a:prstGeom>
          <a:solidFill>
            <a:srgbClr val="0EA5E9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8"/>
          <p:cNvSpPr/>
          <p:nvPr/>
        </p:nvSpPr>
        <p:spPr>
          <a:xfrm>
            <a:off x="6245352" y="2496312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Wake Word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7525512" y="2496312"/>
            <a:ext cx="1188720" cy="219456"/>
          </a:xfrm>
          <a:prstGeom prst="roundRect">
            <a:avLst>
              <a:gd fmla="val 41667" name="adj"/>
            </a:avLst>
          </a:prstGeom>
          <a:solidFill>
            <a:srgbClr val="0EA5E9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8"/>
          <p:cNvSpPr/>
          <p:nvPr/>
        </p:nvSpPr>
        <p:spPr>
          <a:xfrm>
            <a:off x="7525512" y="2496312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Accessibility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365760" y="2971800"/>
            <a:ext cx="4206240" cy="1737360"/>
          </a:xfrm>
          <a:prstGeom prst="rect">
            <a:avLst/>
          </a:prstGeom>
          <a:solidFill>
            <a:srgbClr val="1C2B4B"/>
          </a:solidFill>
          <a:ln cap="flat" cmpd="sng" w="9525">
            <a:solidFill>
              <a:srgbClr val="2A3F6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530352" y="3136392"/>
            <a:ext cx="502920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8"/>
          <p:cNvSpPr/>
          <p:nvPr/>
        </p:nvSpPr>
        <p:spPr>
          <a:xfrm>
            <a:off x="530352" y="31363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1143000" y="3136392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Secure Full-Stack Auth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530352" y="3721608"/>
            <a:ext cx="3840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9BC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8A9BC0"/>
                </a:solidFill>
                <a:latin typeface="Calibri"/>
                <a:ea typeface="Calibri"/>
                <a:cs typeface="Calibri"/>
                <a:sym typeface="Calibri"/>
              </a:rPr>
              <a:t>JWT authentication with httpOnly cookies, bcrypt password hashing, and complete user-scoped data isolation. Every API route verifies resource ownership.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530352" y="4416552"/>
            <a:ext cx="1188720" cy="219456"/>
          </a:xfrm>
          <a:prstGeom prst="roundRect">
            <a:avLst>
              <a:gd fmla="val 41667" name="adj"/>
            </a:avLst>
          </a:prstGeom>
          <a:solidFill>
            <a:srgbClr val="22C55E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8"/>
          <p:cNvSpPr/>
          <p:nvPr/>
        </p:nvSpPr>
        <p:spPr>
          <a:xfrm>
            <a:off x="530352" y="4416552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JWT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1810512" y="4416552"/>
            <a:ext cx="1188720" cy="219456"/>
          </a:xfrm>
          <a:prstGeom prst="roundRect">
            <a:avLst>
              <a:gd fmla="val 41667" name="adj"/>
            </a:avLst>
          </a:prstGeom>
          <a:solidFill>
            <a:srgbClr val="22C55E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8"/>
          <p:cNvSpPr/>
          <p:nvPr/>
        </p:nvSpPr>
        <p:spPr>
          <a:xfrm>
            <a:off x="1810512" y="4416552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bcryptjs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3090672" y="4416552"/>
            <a:ext cx="1188720" cy="219456"/>
          </a:xfrm>
          <a:prstGeom prst="roundRect">
            <a:avLst>
              <a:gd fmla="val 41667" name="adj"/>
            </a:avLst>
          </a:prstGeom>
          <a:solidFill>
            <a:srgbClr val="22C55E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8"/>
          <p:cNvSpPr/>
          <p:nvPr/>
        </p:nvSpPr>
        <p:spPr>
          <a:xfrm>
            <a:off x="3090672" y="4416552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Prisma ORM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4800600" y="2971800"/>
            <a:ext cx="4206240" cy="1737360"/>
          </a:xfrm>
          <a:prstGeom prst="rect">
            <a:avLst/>
          </a:prstGeom>
          <a:solidFill>
            <a:srgbClr val="1C2B4B"/>
          </a:solidFill>
          <a:ln cap="flat" cmpd="sng" w="9525">
            <a:solidFill>
              <a:srgbClr val="2A3F6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8"/>
          <p:cNvSpPr/>
          <p:nvPr/>
        </p:nvSpPr>
        <p:spPr>
          <a:xfrm>
            <a:off x="4965192" y="3136392"/>
            <a:ext cx="50292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8"/>
          <p:cNvSpPr/>
          <p:nvPr/>
        </p:nvSpPr>
        <p:spPr>
          <a:xfrm>
            <a:off x="4965192" y="31363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5577840" y="3136392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87%+ Test Coverage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4965192" y="3721608"/>
            <a:ext cx="3840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9BC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8A9BC0"/>
                </a:solidFill>
                <a:latin typeface="Calibri"/>
                <a:ea typeface="Calibri"/>
                <a:cs typeface="Calibri"/>
                <a:sym typeface="Calibri"/>
              </a:rPr>
              <a:t>315 unit tests across 52 test files using Vitest and React Testing Library. All hooks, components, pages, and context providers are covered.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4965192" y="4416552"/>
            <a:ext cx="1188720" cy="219456"/>
          </a:xfrm>
          <a:prstGeom prst="roundRect">
            <a:avLst>
              <a:gd fmla="val 41667" name="adj"/>
            </a:avLst>
          </a:prstGeom>
          <a:solidFill>
            <a:srgbClr val="F59E0B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8"/>
          <p:cNvSpPr/>
          <p:nvPr/>
        </p:nvSpPr>
        <p:spPr>
          <a:xfrm>
            <a:off x="4965192" y="4416552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315 Tests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6245352" y="4416552"/>
            <a:ext cx="1188720" cy="219456"/>
          </a:xfrm>
          <a:prstGeom prst="roundRect">
            <a:avLst>
              <a:gd fmla="val 41667" name="adj"/>
            </a:avLst>
          </a:prstGeom>
          <a:solidFill>
            <a:srgbClr val="F59E0B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8"/>
          <p:cNvSpPr/>
          <p:nvPr/>
        </p:nvSpPr>
        <p:spPr>
          <a:xfrm>
            <a:off x="6245352" y="4416552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Vitest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7525512" y="4416552"/>
            <a:ext cx="1188720" cy="219456"/>
          </a:xfrm>
          <a:prstGeom prst="roundRect">
            <a:avLst>
              <a:gd fmla="val 41667" name="adj"/>
            </a:avLst>
          </a:prstGeom>
          <a:solidFill>
            <a:srgbClr val="F59E0B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8"/>
          <p:cNvSpPr/>
          <p:nvPr/>
        </p:nvSpPr>
        <p:spPr>
          <a:xfrm>
            <a:off x="7525512" y="4416552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RTL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9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9"/>
          <p:cNvSpPr/>
          <p:nvPr/>
        </p:nvSpPr>
        <p:spPr>
          <a:xfrm>
            <a:off x="457200" y="137142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</a:t>
            </a:r>
            <a:r>
              <a:rPr b="1" lang="en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457200" y="59436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C0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8A9BC0"/>
                </a:solidFill>
                <a:latin typeface="Calibri"/>
                <a:ea typeface="Calibri"/>
                <a:cs typeface="Calibri"/>
                <a:sym typeface="Calibri"/>
              </a:rPr>
              <a:t>Azure Ubuntu VM · Docker Compose · Full-Stack Next.js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513" y="514200"/>
            <a:ext cx="8820974" cy="4053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9"/>
          <p:cNvSpPr txBox="1"/>
          <p:nvPr/>
        </p:nvSpPr>
        <p:spPr>
          <a:xfrm>
            <a:off x="6633825" y="1887725"/>
            <a:ext cx="13374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postgresql</a:t>
            </a:r>
            <a:endParaRPr sz="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9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 Stack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457200" y="59436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C0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8A9BC0"/>
                </a:solidFill>
                <a:latin typeface="Calibri"/>
                <a:ea typeface="Calibri"/>
                <a:cs typeface="Calibri"/>
                <a:sym typeface="Calibri"/>
              </a:rPr>
              <a:t>Modern, production-grade tools chosen for speed, type safety, and developer experience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365760" y="1005840"/>
            <a:ext cx="4206240" cy="1783080"/>
          </a:xfrm>
          <a:prstGeom prst="rect">
            <a:avLst/>
          </a:prstGeom>
          <a:solidFill>
            <a:srgbClr val="1C2B4B"/>
          </a:solidFill>
          <a:ln cap="flat" cmpd="sng" w="9525">
            <a:solidFill>
              <a:srgbClr val="2A3F6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0"/>
          <p:cNvSpPr/>
          <p:nvPr/>
        </p:nvSpPr>
        <p:spPr>
          <a:xfrm>
            <a:off x="365760" y="1005840"/>
            <a:ext cx="4206240" cy="347472"/>
          </a:xfrm>
          <a:prstGeom prst="rect">
            <a:avLst/>
          </a:prstGeom>
          <a:solidFill>
            <a:srgbClr val="4F8EF7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0"/>
          <p:cNvSpPr/>
          <p:nvPr/>
        </p:nvSpPr>
        <p:spPr>
          <a:xfrm>
            <a:off x="530352" y="1024128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8EF7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4F8EF7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566928" y="1527048"/>
            <a:ext cx="109728" cy="109728"/>
          </a:xfrm>
          <a:prstGeom prst="ellipse">
            <a:avLst/>
          </a:prstGeom>
          <a:solidFill>
            <a:srgbClr val="4F8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0"/>
          <p:cNvSpPr/>
          <p:nvPr/>
        </p:nvSpPr>
        <p:spPr>
          <a:xfrm>
            <a:off x="777240" y="1463040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8EEF8"/>
                </a:solidFill>
                <a:latin typeface="Calibri"/>
                <a:ea typeface="Calibri"/>
                <a:cs typeface="Calibri"/>
                <a:sym typeface="Calibri"/>
              </a:rPr>
              <a:t>Next.js 16 (App Router)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566928" y="1801368"/>
            <a:ext cx="109728" cy="109728"/>
          </a:xfrm>
          <a:prstGeom prst="ellipse">
            <a:avLst/>
          </a:prstGeom>
          <a:solidFill>
            <a:srgbClr val="4F8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0"/>
          <p:cNvSpPr/>
          <p:nvPr/>
        </p:nvSpPr>
        <p:spPr>
          <a:xfrm>
            <a:off x="777240" y="1737360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8EEF8"/>
                </a:solidFill>
                <a:latin typeface="Calibri"/>
                <a:ea typeface="Calibri"/>
                <a:cs typeface="Calibri"/>
                <a:sym typeface="Calibri"/>
              </a:rPr>
              <a:t>React 19 + TypeScript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566928" y="2075688"/>
            <a:ext cx="109728" cy="109728"/>
          </a:xfrm>
          <a:prstGeom prst="ellipse">
            <a:avLst/>
          </a:prstGeom>
          <a:solidFill>
            <a:srgbClr val="4F8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0"/>
          <p:cNvSpPr/>
          <p:nvPr/>
        </p:nvSpPr>
        <p:spPr>
          <a:xfrm>
            <a:off x="777240" y="2011680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8EEF8"/>
                </a:solidFill>
                <a:latin typeface="Calibri"/>
                <a:ea typeface="Calibri"/>
                <a:cs typeface="Calibri"/>
                <a:sym typeface="Calibri"/>
              </a:rPr>
              <a:t>Tailwind CSS v4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566928" y="2350008"/>
            <a:ext cx="109728" cy="109728"/>
          </a:xfrm>
          <a:prstGeom prst="ellipse">
            <a:avLst/>
          </a:prstGeom>
          <a:solidFill>
            <a:srgbClr val="4F8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0"/>
          <p:cNvSpPr/>
          <p:nvPr/>
        </p:nvSpPr>
        <p:spPr>
          <a:xfrm>
            <a:off x="777240" y="2286000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8EEF8"/>
                </a:solidFill>
                <a:latin typeface="Calibri"/>
                <a:ea typeface="Calibri"/>
                <a:cs typeface="Calibri"/>
                <a:sym typeface="Calibri"/>
              </a:rPr>
              <a:t>Framer Motion 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566928" y="2624328"/>
            <a:ext cx="109728" cy="109728"/>
          </a:xfrm>
          <a:prstGeom prst="ellipse">
            <a:avLst/>
          </a:prstGeom>
          <a:solidFill>
            <a:srgbClr val="4F8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0"/>
          <p:cNvSpPr/>
          <p:nvPr/>
        </p:nvSpPr>
        <p:spPr>
          <a:xfrm>
            <a:off x="777240" y="2560320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8EEF8"/>
                </a:solidFill>
                <a:latin typeface="Calibri"/>
                <a:ea typeface="Calibri"/>
                <a:cs typeface="Calibri"/>
                <a:sym typeface="Calibri"/>
              </a:rPr>
              <a:t>Radix UI Primitives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4800600" y="1005840"/>
            <a:ext cx="4206240" cy="1783080"/>
          </a:xfrm>
          <a:prstGeom prst="rect">
            <a:avLst/>
          </a:prstGeom>
          <a:solidFill>
            <a:srgbClr val="1C2B4B"/>
          </a:solidFill>
          <a:ln cap="flat" cmpd="sng" w="9525">
            <a:solidFill>
              <a:srgbClr val="2A3F6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0"/>
          <p:cNvSpPr/>
          <p:nvPr/>
        </p:nvSpPr>
        <p:spPr>
          <a:xfrm>
            <a:off x="4800600" y="1005840"/>
            <a:ext cx="4206240" cy="347472"/>
          </a:xfrm>
          <a:prstGeom prst="rect">
            <a:avLst/>
          </a:prstGeom>
          <a:solidFill>
            <a:srgbClr val="0EA5E9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0"/>
          <p:cNvSpPr/>
          <p:nvPr/>
        </p:nvSpPr>
        <p:spPr>
          <a:xfrm>
            <a:off x="4965192" y="1024128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BACKEND &amp; DATABASE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5001768" y="1527048"/>
            <a:ext cx="109728" cy="10972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0"/>
          <p:cNvSpPr/>
          <p:nvPr/>
        </p:nvSpPr>
        <p:spPr>
          <a:xfrm>
            <a:off x="5212080" y="1463040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8EEF8"/>
                </a:solidFill>
                <a:latin typeface="Calibri"/>
                <a:ea typeface="Calibri"/>
                <a:cs typeface="Calibri"/>
                <a:sym typeface="Calibri"/>
              </a:rPr>
              <a:t>PostgreSQL 16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5001768" y="1801368"/>
            <a:ext cx="109728" cy="10972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0"/>
          <p:cNvSpPr/>
          <p:nvPr/>
        </p:nvSpPr>
        <p:spPr>
          <a:xfrm>
            <a:off x="5212080" y="1737360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8EEF8"/>
                </a:solidFill>
                <a:latin typeface="Calibri"/>
                <a:ea typeface="Calibri"/>
                <a:cs typeface="Calibri"/>
                <a:sym typeface="Calibri"/>
              </a:rPr>
              <a:t>Prisma ORM v6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5001768" y="2075688"/>
            <a:ext cx="109728" cy="10972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0"/>
          <p:cNvSpPr/>
          <p:nvPr/>
        </p:nvSpPr>
        <p:spPr>
          <a:xfrm>
            <a:off x="5212080" y="2011680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8EEF8"/>
                </a:solidFill>
                <a:latin typeface="Calibri"/>
                <a:ea typeface="Calibri"/>
                <a:cs typeface="Calibri"/>
                <a:sym typeface="Calibri"/>
              </a:rPr>
              <a:t>19 RESTful API Routes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0"/>
          <p:cNvSpPr/>
          <p:nvPr/>
        </p:nvSpPr>
        <p:spPr>
          <a:xfrm>
            <a:off x="5001768" y="2350008"/>
            <a:ext cx="109728" cy="10972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0"/>
          <p:cNvSpPr/>
          <p:nvPr/>
        </p:nvSpPr>
        <p:spPr>
          <a:xfrm>
            <a:off x="5212080" y="2286000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8EEF8"/>
                </a:solidFill>
                <a:latin typeface="Calibri"/>
                <a:ea typeface="Calibri"/>
                <a:cs typeface="Calibri"/>
                <a:sym typeface="Calibri"/>
              </a:rPr>
              <a:t>JWT + bcryptjs Auth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5001768" y="2624328"/>
            <a:ext cx="109728" cy="10972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0"/>
          <p:cNvSpPr/>
          <p:nvPr/>
        </p:nvSpPr>
        <p:spPr>
          <a:xfrm>
            <a:off x="5212080" y="2560320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8EEF8"/>
                </a:solidFill>
                <a:latin typeface="Calibri"/>
                <a:ea typeface="Calibri"/>
                <a:cs typeface="Calibri"/>
                <a:sym typeface="Calibri"/>
              </a:rPr>
              <a:t>Docker Compose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365760" y="2926080"/>
            <a:ext cx="4206240" cy="1783080"/>
          </a:xfrm>
          <a:prstGeom prst="rect">
            <a:avLst/>
          </a:prstGeom>
          <a:solidFill>
            <a:srgbClr val="1C2B4B"/>
          </a:solidFill>
          <a:ln cap="flat" cmpd="sng" w="9525">
            <a:solidFill>
              <a:srgbClr val="2A3F6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0"/>
          <p:cNvSpPr/>
          <p:nvPr/>
        </p:nvSpPr>
        <p:spPr>
          <a:xfrm>
            <a:off x="365760" y="2926080"/>
            <a:ext cx="4206240" cy="347472"/>
          </a:xfrm>
          <a:prstGeom prst="rect">
            <a:avLst/>
          </a:prstGeom>
          <a:solidFill>
            <a:srgbClr val="22C55E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0"/>
          <p:cNvSpPr/>
          <p:nvPr/>
        </p:nvSpPr>
        <p:spPr>
          <a:xfrm>
            <a:off x="530352" y="2944368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AI &amp; VOICE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0"/>
          <p:cNvSpPr/>
          <p:nvPr/>
        </p:nvSpPr>
        <p:spPr>
          <a:xfrm>
            <a:off x="566928" y="3447288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0"/>
          <p:cNvSpPr/>
          <p:nvPr/>
        </p:nvSpPr>
        <p:spPr>
          <a:xfrm>
            <a:off x="777240" y="3383280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8EEF8"/>
                </a:solidFill>
                <a:latin typeface="Calibri"/>
                <a:ea typeface="Calibri"/>
                <a:cs typeface="Calibri"/>
                <a:sym typeface="Calibri"/>
              </a:rPr>
              <a:t>Azure OpenAI GPT-5.2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0"/>
          <p:cNvSpPr/>
          <p:nvPr/>
        </p:nvSpPr>
        <p:spPr>
          <a:xfrm>
            <a:off x="566928" y="3721608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0"/>
          <p:cNvSpPr/>
          <p:nvPr/>
        </p:nvSpPr>
        <p:spPr>
          <a:xfrm>
            <a:off x="777240" y="3657600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8EEF8"/>
                </a:solidFill>
                <a:latin typeface="Calibri"/>
                <a:ea typeface="Calibri"/>
                <a:cs typeface="Calibri"/>
                <a:sym typeface="Calibri"/>
              </a:rPr>
              <a:t>Server-Sent Events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0"/>
          <p:cNvSpPr/>
          <p:nvPr/>
        </p:nvSpPr>
        <p:spPr>
          <a:xfrm>
            <a:off x="566928" y="3995928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0"/>
          <p:cNvSpPr/>
          <p:nvPr/>
        </p:nvSpPr>
        <p:spPr>
          <a:xfrm>
            <a:off x="777240" y="3931920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8EEF8"/>
                </a:solidFill>
                <a:latin typeface="Calibri"/>
                <a:ea typeface="Calibri"/>
                <a:cs typeface="Calibri"/>
                <a:sym typeface="Calibri"/>
              </a:rPr>
              <a:t>Azure Speech SDK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0"/>
          <p:cNvSpPr/>
          <p:nvPr/>
        </p:nvSpPr>
        <p:spPr>
          <a:xfrm>
            <a:off x="566928" y="4270248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0"/>
          <p:cNvSpPr/>
          <p:nvPr/>
        </p:nvSpPr>
        <p:spPr>
          <a:xfrm>
            <a:off x="777240" y="4206240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8EEF8"/>
                </a:solidFill>
                <a:latin typeface="Calibri"/>
                <a:ea typeface="Calibri"/>
                <a:cs typeface="Calibri"/>
                <a:sym typeface="Calibri"/>
              </a:rPr>
              <a:t>Neural TTS JennyNeural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0"/>
          <p:cNvSpPr/>
          <p:nvPr/>
        </p:nvSpPr>
        <p:spPr>
          <a:xfrm>
            <a:off x="566928" y="4544568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0"/>
          <p:cNvSpPr/>
          <p:nvPr/>
        </p:nvSpPr>
        <p:spPr>
          <a:xfrm>
            <a:off x="777240" y="4480560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8EEF8"/>
                </a:solidFill>
                <a:latin typeface="Calibri"/>
                <a:ea typeface="Calibri"/>
                <a:cs typeface="Calibri"/>
                <a:sym typeface="Calibri"/>
              </a:rPr>
              <a:t>Wake Word Detection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0"/>
          <p:cNvSpPr/>
          <p:nvPr/>
        </p:nvSpPr>
        <p:spPr>
          <a:xfrm>
            <a:off x="4800600" y="2926080"/>
            <a:ext cx="4206240" cy="1783080"/>
          </a:xfrm>
          <a:prstGeom prst="rect">
            <a:avLst/>
          </a:prstGeom>
          <a:solidFill>
            <a:srgbClr val="1C2B4B"/>
          </a:solidFill>
          <a:ln cap="flat" cmpd="sng" w="9525">
            <a:solidFill>
              <a:srgbClr val="2A3F6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0"/>
          <p:cNvSpPr/>
          <p:nvPr/>
        </p:nvSpPr>
        <p:spPr>
          <a:xfrm>
            <a:off x="4800600" y="2926080"/>
            <a:ext cx="4206240" cy="347472"/>
          </a:xfrm>
          <a:prstGeom prst="rect">
            <a:avLst/>
          </a:prstGeom>
          <a:solidFill>
            <a:srgbClr val="F59E0B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0"/>
          <p:cNvSpPr/>
          <p:nvPr/>
        </p:nvSpPr>
        <p:spPr>
          <a:xfrm>
            <a:off x="4965192" y="2944368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TESTING &amp; DEVOPS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5001768" y="344728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0"/>
          <p:cNvSpPr/>
          <p:nvPr/>
        </p:nvSpPr>
        <p:spPr>
          <a:xfrm>
            <a:off x="5212080" y="3383280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8EEF8"/>
                </a:solidFill>
                <a:latin typeface="Calibri"/>
                <a:ea typeface="Calibri"/>
                <a:cs typeface="Calibri"/>
                <a:sym typeface="Calibri"/>
              </a:rPr>
              <a:t>Vitest + React Testing Lib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5001768" y="372160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0"/>
          <p:cNvSpPr/>
          <p:nvPr/>
        </p:nvSpPr>
        <p:spPr>
          <a:xfrm>
            <a:off x="5212080" y="3657600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8EEF8"/>
                </a:solidFill>
                <a:latin typeface="Calibri"/>
                <a:ea typeface="Calibri"/>
                <a:cs typeface="Calibri"/>
                <a:sym typeface="Calibri"/>
              </a:rPr>
              <a:t>315 Tests / 87% Coverage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0"/>
          <p:cNvSpPr/>
          <p:nvPr/>
        </p:nvSpPr>
        <p:spPr>
          <a:xfrm>
            <a:off x="5001768" y="39959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0"/>
          <p:cNvSpPr/>
          <p:nvPr/>
        </p:nvSpPr>
        <p:spPr>
          <a:xfrm>
            <a:off x="5212080" y="3931920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8EEF8"/>
                </a:solidFill>
                <a:latin typeface="Calibri"/>
                <a:ea typeface="Calibri"/>
                <a:cs typeface="Calibri"/>
                <a:sym typeface="Calibri"/>
              </a:rPr>
              <a:t>Azure Ubuntu VM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0"/>
          <p:cNvSpPr/>
          <p:nvPr/>
        </p:nvSpPr>
        <p:spPr>
          <a:xfrm>
            <a:off x="5001768" y="427024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0"/>
          <p:cNvSpPr/>
          <p:nvPr/>
        </p:nvSpPr>
        <p:spPr>
          <a:xfrm>
            <a:off x="5212080" y="4206240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8EEF8"/>
                </a:solidFill>
                <a:latin typeface="Calibri"/>
                <a:ea typeface="Calibri"/>
                <a:cs typeface="Calibri"/>
                <a:sym typeface="Calibri"/>
              </a:rPr>
              <a:t>Docker Multi-Stage Build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0"/>
          <p:cNvSpPr/>
          <p:nvPr/>
        </p:nvSpPr>
        <p:spPr>
          <a:xfrm>
            <a:off x="5001768" y="454456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0"/>
          <p:cNvSpPr/>
          <p:nvPr/>
        </p:nvSpPr>
        <p:spPr>
          <a:xfrm>
            <a:off x="5212080" y="4480560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8EEF8"/>
                </a:solidFill>
                <a:latin typeface="Calibri"/>
                <a:ea typeface="Calibri"/>
                <a:cs typeface="Calibri"/>
                <a:sym typeface="Calibri"/>
              </a:rPr>
              <a:t>GitHub CI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9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 Improvements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1"/>
          <p:cNvSpPr/>
          <p:nvPr/>
        </p:nvSpPr>
        <p:spPr>
          <a:xfrm>
            <a:off x="457200" y="59436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C0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8A9BC0"/>
                </a:solidFill>
                <a:latin typeface="Calibri"/>
                <a:ea typeface="Calibri"/>
                <a:cs typeface="Calibri"/>
                <a:sym typeface="Calibri"/>
              </a:rPr>
              <a:t>Where StudyPilot goes next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1"/>
          <p:cNvSpPr/>
          <p:nvPr/>
        </p:nvSpPr>
        <p:spPr>
          <a:xfrm>
            <a:off x="320040" y="987552"/>
            <a:ext cx="4206240" cy="1188720"/>
          </a:xfrm>
          <a:prstGeom prst="rect">
            <a:avLst/>
          </a:prstGeom>
          <a:solidFill>
            <a:srgbClr val="1C2B4B"/>
          </a:solidFill>
          <a:ln cap="flat" cmpd="sng" w="9525">
            <a:solidFill>
              <a:srgbClr val="2A3F6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1"/>
          <p:cNvSpPr/>
          <p:nvPr/>
        </p:nvSpPr>
        <p:spPr>
          <a:xfrm>
            <a:off x="484632" y="1097280"/>
            <a:ext cx="594360" cy="228600"/>
          </a:xfrm>
          <a:prstGeom prst="roundRect">
            <a:avLst>
              <a:gd fmla="val 40000" name="adj"/>
            </a:avLst>
          </a:prstGeom>
          <a:solidFill>
            <a:srgbClr val="4F8EF7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1"/>
          <p:cNvSpPr/>
          <p:nvPr/>
        </p:nvSpPr>
        <p:spPr>
          <a:xfrm>
            <a:off x="484632" y="109728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8EF7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4F8EF7"/>
                </a:solidFill>
                <a:latin typeface="Calibri"/>
                <a:ea typeface="Calibri"/>
                <a:cs typeface="Calibri"/>
                <a:sym typeface="Calibri"/>
              </a:rPr>
              <a:t>v1.1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1"/>
          <p:cNvSpPr/>
          <p:nvPr/>
        </p:nvSpPr>
        <p:spPr>
          <a:xfrm>
            <a:off x="1188720" y="1078992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📱  Native Mobile App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1"/>
          <p:cNvSpPr/>
          <p:nvPr/>
        </p:nvSpPr>
        <p:spPr>
          <a:xfrm>
            <a:off x="484632" y="1444752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9BC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A9BC0"/>
                </a:solidFill>
                <a:latin typeface="Calibri"/>
                <a:ea typeface="Calibri"/>
                <a:cs typeface="Calibri"/>
                <a:sym typeface="Calibri"/>
              </a:rPr>
              <a:t>React Native port with offline support and push notifications for assignment deadlines and calendar reminders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1"/>
          <p:cNvSpPr/>
          <p:nvPr/>
        </p:nvSpPr>
        <p:spPr>
          <a:xfrm>
            <a:off x="4754880" y="987552"/>
            <a:ext cx="4206240" cy="1188720"/>
          </a:xfrm>
          <a:prstGeom prst="rect">
            <a:avLst/>
          </a:prstGeom>
          <a:solidFill>
            <a:srgbClr val="1C2B4B"/>
          </a:solidFill>
          <a:ln cap="flat" cmpd="sng" w="9525">
            <a:solidFill>
              <a:srgbClr val="2A3F6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1"/>
          <p:cNvSpPr/>
          <p:nvPr/>
        </p:nvSpPr>
        <p:spPr>
          <a:xfrm>
            <a:off x="4919472" y="1097280"/>
            <a:ext cx="594360" cy="228600"/>
          </a:xfrm>
          <a:prstGeom prst="roundRect">
            <a:avLst>
              <a:gd fmla="val 40000" name="adj"/>
            </a:avLst>
          </a:prstGeom>
          <a:solidFill>
            <a:srgbClr val="0EA5E9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1"/>
          <p:cNvSpPr/>
          <p:nvPr/>
        </p:nvSpPr>
        <p:spPr>
          <a:xfrm>
            <a:off x="4919472" y="109728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v1.1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1"/>
          <p:cNvSpPr/>
          <p:nvPr/>
        </p:nvSpPr>
        <p:spPr>
          <a:xfrm>
            <a:off x="5623560" y="1078992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🔗  Canvas LMS Integration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1"/>
          <p:cNvSpPr/>
          <p:nvPr/>
        </p:nvSpPr>
        <p:spPr>
          <a:xfrm>
            <a:off x="4919472" y="1444752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9BC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A9BC0"/>
                </a:solidFill>
                <a:latin typeface="Calibri"/>
                <a:ea typeface="Calibri"/>
                <a:cs typeface="Calibri"/>
                <a:sym typeface="Calibri"/>
              </a:rPr>
              <a:t>OAuth2 connection to Canvas to auto-import assignments, grades, and deadlines — no manual entry needed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1"/>
          <p:cNvSpPr/>
          <p:nvPr/>
        </p:nvSpPr>
        <p:spPr>
          <a:xfrm>
            <a:off x="320040" y="2322576"/>
            <a:ext cx="4206240" cy="1188720"/>
          </a:xfrm>
          <a:prstGeom prst="rect">
            <a:avLst/>
          </a:prstGeom>
          <a:solidFill>
            <a:srgbClr val="1C2B4B"/>
          </a:solidFill>
          <a:ln cap="flat" cmpd="sng" w="9525">
            <a:solidFill>
              <a:srgbClr val="2A3F6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1"/>
          <p:cNvSpPr/>
          <p:nvPr/>
        </p:nvSpPr>
        <p:spPr>
          <a:xfrm>
            <a:off x="484632" y="2432304"/>
            <a:ext cx="594360" cy="228600"/>
          </a:xfrm>
          <a:prstGeom prst="roundRect">
            <a:avLst>
              <a:gd fmla="val 40000" name="adj"/>
            </a:avLst>
          </a:prstGeom>
          <a:solidFill>
            <a:srgbClr val="22C55E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1"/>
          <p:cNvSpPr/>
          <p:nvPr/>
        </p:nvSpPr>
        <p:spPr>
          <a:xfrm>
            <a:off x="484632" y="2432304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v1.2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1188720" y="2414016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👥  Collaborative Study Rooms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1"/>
          <p:cNvSpPr/>
          <p:nvPr/>
        </p:nvSpPr>
        <p:spPr>
          <a:xfrm>
            <a:off x="484632" y="2779776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9BC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A9BC0"/>
                </a:solidFill>
                <a:latin typeface="Calibri"/>
                <a:ea typeface="Calibri"/>
                <a:cs typeface="Calibri"/>
                <a:sym typeface="Calibri"/>
              </a:rPr>
              <a:t>Real-time shared workspaces where study groups can co-edit notes, share AI responses, and track group tasks via WebSockets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1"/>
          <p:cNvSpPr/>
          <p:nvPr/>
        </p:nvSpPr>
        <p:spPr>
          <a:xfrm>
            <a:off x="4754880" y="2322576"/>
            <a:ext cx="4206240" cy="1188720"/>
          </a:xfrm>
          <a:prstGeom prst="rect">
            <a:avLst/>
          </a:prstGeom>
          <a:solidFill>
            <a:srgbClr val="1C2B4B"/>
          </a:solidFill>
          <a:ln cap="flat" cmpd="sng" w="9525">
            <a:solidFill>
              <a:srgbClr val="2A3F6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1"/>
          <p:cNvSpPr/>
          <p:nvPr/>
        </p:nvSpPr>
        <p:spPr>
          <a:xfrm>
            <a:off x="4919472" y="2432304"/>
            <a:ext cx="594360" cy="228600"/>
          </a:xfrm>
          <a:prstGeom prst="roundRect">
            <a:avLst>
              <a:gd fmla="val 40000" name="adj"/>
            </a:avLst>
          </a:prstGeom>
          <a:solidFill>
            <a:srgbClr val="F59E0B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1"/>
          <p:cNvSpPr/>
          <p:nvPr/>
        </p:nvSpPr>
        <p:spPr>
          <a:xfrm>
            <a:off x="4919472" y="2432304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v1.2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1"/>
          <p:cNvSpPr/>
          <p:nvPr/>
        </p:nvSpPr>
        <p:spPr>
          <a:xfrm>
            <a:off x="5623560" y="2414016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📈  Study Analytics Dashboard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1"/>
          <p:cNvSpPr/>
          <p:nvPr/>
        </p:nvSpPr>
        <p:spPr>
          <a:xfrm>
            <a:off x="4919472" y="2779776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9BC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A9BC0"/>
                </a:solidFill>
                <a:latin typeface="Calibri"/>
                <a:ea typeface="Calibri"/>
                <a:cs typeface="Calibri"/>
                <a:sym typeface="Calibri"/>
              </a:rPr>
              <a:t>Visualize study patterns, completion rates, and focus time with interactive charts. AI coaching suggests habit improvements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1"/>
          <p:cNvSpPr/>
          <p:nvPr/>
        </p:nvSpPr>
        <p:spPr>
          <a:xfrm>
            <a:off x="320040" y="3657600"/>
            <a:ext cx="4206240" cy="1188720"/>
          </a:xfrm>
          <a:prstGeom prst="rect">
            <a:avLst/>
          </a:prstGeom>
          <a:solidFill>
            <a:srgbClr val="1C2B4B"/>
          </a:solidFill>
          <a:ln cap="flat" cmpd="sng" w="9525">
            <a:solidFill>
              <a:srgbClr val="2A3F6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1"/>
          <p:cNvSpPr/>
          <p:nvPr/>
        </p:nvSpPr>
        <p:spPr>
          <a:xfrm>
            <a:off x="484632" y="3767328"/>
            <a:ext cx="594360" cy="228600"/>
          </a:xfrm>
          <a:prstGeom prst="roundRect">
            <a:avLst>
              <a:gd fmla="val 40000" name="adj"/>
            </a:avLst>
          </a:prstGeom>
          <a:solidFill>
            <a:srgbClr val="F43F5E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1"/>
          <p:cNvSpPr/>
          <p:nvPr/>
        </p:nvSpPr>
        <p:spPr>
          <a:xfrm>
            <a:off x="484632" y="3767328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43F5E"/>
                </a:solidFill>
                <a:latin typeface="Calibri"/>
                <a:ea typeface="Calibri"/>
                <a:cs typeface="Calibri"/>
                <a:sym typeface="Calibri"/>
              </a:rPr>
              <a:t>v2.0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1"/>
          <p:cNvSpPr/>
          <p:nvPr/>
        </p:nvSpPr>
        <p:spPr>
          <a:xfrm>
            <a:off x="1188720" y="3749040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🧠  Personalized AI Tutor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1"/>
          <p:cNvSpPr/>
          <p:nvPr/>
        </p:nvSpPr>
        <p:spPr>
          <a:xfrm>
            <a:off x="484632" y="4114800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9BC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A9BC0"/>
                </a:solidFill>
                <a:latin typeface="Calibri"/>
                <a:ea typeface="Calibri"/>
                <a:cs typeface="Calibri"/>
                <a:sym typeface="Calibri"/>
              </a:rPr>
              <a:t>Fine-tuned model trained on each student's notes, syllabus content, and past interactions for truly personalized explanations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1"/>
          <p:cNvSpPr/>
          <p:nvPr/>
        </p:nvSpPr>
        <p:spPr>
          <a:xfrm>
            <a:off x="4754880" y="3657600"/>
            <a:ext cx="4206240" cy="1188720"/>
          </a:xfrm>
          <a:prstGeom prst="rect">
            <a:avLst/>
          </a:prstGeom>
          <a:solidFill>
            <a:srgbClr val="1C2B4B"/>
          </a:solidFill>
          <a:ln cap="flat" cmpd="sng" w="9525">
            <a:solidFill>
              <a:srgbClr val="2A3F6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1"/>
          <p:cNvSpPr/>
          <p:nvPr/>
        </p:nvSpPr>
        <p:spPr>
          <a:xfrm>
            <a:off x="4919472" y="3767328"/>
            <a:ext cx="594360" cy="228600"/>
          </a:xfrm>
          <a:prstGeom prst="roundRect">
            <a:avLst>
              <a:gd fmla="val 40000" name="adj"/>
            </a:avLst>
          </a:prstGeom>
          <a:solidFill>
            <a:srgbClr val="4F8EF7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1"/>
          <p:cNvSpPr/>
          <p:nvPr/>
        </p:nvSpPr>
        <p:spPr>
          <a:xfrm>
            <a:off x="4919472" y="3767328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8EF7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4F8EF7"/>
                </a:solidFill>
                <a:latin typeface="Calibri"/>
                <a:ea typeface="Calibri"/>
                <a:cs typeface="Calibri"/>
                <a:sym typeface="Calibri"/>
              </a:rPr>
              <a:t>v2.0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1"/>
          <p:cNvSpPr/>
          <p:nvPr/>
        </p:nvSpPr>
        <p:spPr>
          <a:xfrm>
            <a:off x="5623560" y="3749040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♿  Enhanced Accessibility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1"/>
          <p:cNvSpPr/>
          <p:nvPr/>
        </p:nvSpPr>
        <p:spPr>
          <a:xfrm>
            <a:off x="4919472" y="4114800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9BC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A9BC0"/>
                </a:solidFill>
                <a:latin typeface="Calibri"/>
                <a:ea typeface="Calibri"/>
                <a:cs typeface="Calibri"/>
                <a:sym typeface="Calibri"/>
              </a:rPr>
              <a:t>Eye-tracking control, switch access support, dyslexia-friendly fonts, and AI-generated image descriptions for visual content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9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2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4F8EF7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2"/>
          <p:cNvSpPr/>
          <p:nvPr/>
        </p:nvSpPr>
        <p:spPr>
          <a:xfrm>
            <a:off x="-731520" y="3200400"/>
            <a:ext cx="3200400" cy="3200400"/>
          </a:xfrm>
          <a:prstGeom prst="ellipse">
            <a:avLst/>
          </a:prstGeom>
          <a:solidFill>
            <a:srgbClr val="0EA5E9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2"/>
          <p:cNvSpPr/>
          <p:nvPr/>
        </p:nvSpPr>
        <p:spPr>
          <a:xfrm>
            <a:off x="3794760" y="457200"/>
            <a:ext cx="1554480" cy="1554480"/>
          </a:xfrm>
          <a:prstGeom prst="roundRect">
            <a:avLst>
              <a:gd fmla="val 17647" name="adj"/>
            </a:avLst>
          </a:prstGeom>
          <a:solidFill>
            <a:srgbClr val="4F8EF7"/>
          </a:solidFill>
          <a:ln>
            <a:noFill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2"/>
          <p:cNvSpPr/>
          <p:nvPr/>
        </p:nvSpPr>
        <p:spPr>
          <a:xfrm>
            <a:off x="3794760" y="457200"/>
            <a:ext cx="15544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lang="en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2"/>
          <p:cNvSpPr/>
          <p:nvPr/>
        </p:nvSpPr>
        <p:spPr>
          <a:xfrm>
            <a:off x="1371600" y="2148840"/>
            <a:ext cx="6400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StudyPilot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2"/>
          <p:cNvSpPr/>
          <p:nvPr/>
        </p:nvSpPr>
        <p:spPr>
          <a:xfrm>
            <a:off x="1371600" y="278892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EB3FF"/>
              </a:buClr>
              <a:buSzPts val="1600"/>
              <a:buFont typeface="Calibri"/>
              <a:buNone/>
            </a:pPr>
            <a:r>
              <a:rPr b="0" i="1" lang="en" sz="1600" u="none" cap="none" strike="noStrike">
                <a:solidFill>
                  <a:srgbClr val="7EB3FF"/>
                </a:solidFill>
                <a:latin typeface="Calibri"/>
                <a:ea typeface="Calibri"/>
                <a:cs typeface="Calibri"/>
                <a:sym typeface="Calibri"/>
              </a:rPr>
              <a:t>One dashboard. Every tool. Zero switching.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2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BC0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8A9BC0"/>
                </a:solidFill>
                <a:latin typeface="Calibri"/>
                <a:ea typeface="Calibri"/>
                <a:cs typeface="Calibri"/>
                <a:sym typeface="Calibri"/>
              </a:rPr>
              <a:t>CMPE 280 · Team 14 · Spring 2026 · San Jose State University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